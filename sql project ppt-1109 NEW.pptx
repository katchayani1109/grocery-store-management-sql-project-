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80" r:id="rId3"/>
    <p:sldId id="261" r:id="rId4"/>
    <p:sldId id="337" r:id="rId5"/>
    <p:sldId id="278" r:id="rId6"/>
    <p:sldId id="339" r:id="rId7"/>
    <p:sldId id="263" r:id="rId8"/>
    <p:sldId id="265" r:id="rId9"/>
    <p:sldId id="281" r:id="rId10"/>
    <p:sldId id="296" r:id="rId11"/>
    <p:sldId id="266" r:id="rId12"/>
    <p:sldId id="309" r:id="rId13"/>
    <p:sldId id="310" r:id="rId14"/>
    <p:sldId id="311" r:id="rId15"/>
    <p:sldId id="312" r:id="rId16"/>
    <p:sldId id="267" r:id="rId17"/>
    <p:sldId id="313" r:id="rId18"/>
    <p:sldId id="314" r:id="rId19"/>
    <p:sldId id="315" r:id="rId20"/>
    <p:sldId id="316" r:id="rId21"/>
    <p:sldId id="317" r:id="rId22"/>
    <p:sldId id="284" r:id="rId23"/>
    <p:sldId id="318" r:id="rId24"/>
    <p:sldId id="319" r:id="rId25"/>
    <p:sldId id="320" r:id="rId26"/>
    <p:sldId id="321" r:id="rId27"/>
    <p:sldId id="322" r:id="rId28"/>
    <p:sldId id="282" r:id="rId29"/>
    <p:sldId id="323" r:id="rId30"/>
    <p:sldId id="324" r:id="rId31"/>
    <p:sldId id="325" r:id="rId32"/>
    <p:sldId id="326" r:id="rId33"/>
    <p:sldId id="283" r:id="rId34"/>
    <p:sldId id="327" r:id="rId35"/>
    <p:sldId id="328" r:id="rId36"/>
    <p:sldId id="329" r:id="rId37"/>
    <p:sldId id="330" r:id="rId38"/>
    <p:sldId id="285" r:id="rId39"/>
    <p:sldId id="334" r:id="rId40"/>
    <p:sldId id="335" r:id="rId41"/>
    <p:sldId id="336" r:id="rId42"/>
    <p:sldId id="340" r:id="rId43"/>
    <p:sldId id="341" r:id="rId44"/>
    <p:sldId id="276" r:id="rId45"/>
    <p:sldId id="295" r:id="rId46"/>
    <p:sldId id="259" r:id="rId47"/>
    <p:sldId id="294" r:id="rId48"/>
  </p:sldIdLst>
  <p:sldSz cx="12192000" cy="6858000"/>
  <p:notesSz cx="6858000" cy="9144000"/>
  <p:embeddedFontLst>
    <p:embeddedFont>
      <p:font typeface="Libre Baskerville" panose="02000000000000000000" pitchFamily="2" charset="0"/>
      <p:regular r:id="rId50"/>
      <p:bold r:id="rId51"/>
      <p: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90" d="100"/>
          <a:sy n="90" d="100"/>
        </p:scale>
        <p:origin x="55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customschemas.google.com/relationships/presentationmetadata" Target="meta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4986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4161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4910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7438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D62AA37B-3AFB-F95C-1479-A55A2AFC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26A14D5-57DC-1535-F830-7E506F507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5B350644-8005-98F8-E5CB-C2F973483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5400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51934"/>
            <a:ext cx="12190815" cy="66388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650976" y="5645454"/>
            <a:ext cx="8888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GROCERY STORE MANAGEMENT  SQL  PROJECT </a:t>
            </a:r>
            <a:endParaRPr lang="en-US" sz="2400" dirty="0"/>
          </a:p>
          <a:p>
            <a:br>
              <a:rPr lang="en-US" sz="2400" dirty="0"/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 descr="5 Best Grocery Inventory Management Software Solutions (2025 Guide)">
            <a:extLst>
              <a:ext uri="{FF2B5EF4-FFF2-40B4-BE49-F238E27FC236}">
                <a16:creationId xmlns:a16="http://schemas.microsoft.com/office/drawing/2014/main" id="{CAC5ED9B-B033-8C71-7920-220EFFD6A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567" y="2937933"/>
            <a:ext cx="4986866" cy="253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BCD2-097C-AB08-F476-BFB1E15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Me: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B9929B-C357-D27B-49AE-F42136576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14" y="2546895"/>
            <a:ext cx="10742724" cy="714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5672F-019F-4AB0-2CFA-FD9A30F3E9F0}"/>
              </a:ext>
            </a:extLst>
          </p:cNvPr>
          <p:cNvSpPr txBox="1"/>
          <p:nvPr/>
        </p:nvSpPr>
        <p:spPr>
          <a:xfrm>
            <a:off x="531434" y="1232964"/>
            <a:ext cx="11001804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name is Katchayani, and I have completed my Bachelor of Computer Applications (BCA). I am interested in becoming a Data Analyst and enjoy working with data to find useful insights. I am passionate about learning new tools and improving my analytical skills.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completed my BCA, which helped me build a strong foundation in computers and data-related concepts.  I am interested in a Data Analyst role because I like working with data, analyzing patterns, and using data to make better decisions. I am a fresher and currently building my skills through projects and learning tools like SQL and Power BI.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completed a SQL-based project on grocery store data analysis, where I analyzed customer orders, product sales, and revenue trends to understand business performance.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:https://www.linkedin.com/in/katchayani-borra-853780301</a:t>
            </a:r>
          </a:p>
        </p:txBody>
      </p:sp>
    </p:spTree>
    <p:extLst>
      <p:ext uri="{BB962C8B-B14F-4D97-AF65-F5344CB8AC3E}">
        <p14:creationId xmlns:p14="http://schemas.microsoft.com/office/powerpoint/2010/main" val="192653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533" y="826347"/>
            <a:ext cx="4666827" cy="72136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2DCD9-A327-3BE0-5E99-2B80AB2BF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4533" y="1798607"/>
            <a:ext cx="8027165" cy="4440827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Name: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Grocery Management 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Tool: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workbench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sales, customers, products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9FAD-3F88-94B4-773C-DBDA2AACE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Agenda</a:t>
            </a:r>
            <a:r>
              <a:rPr lang="en-US" sz="4000" dirty="0">
                <a:solidFill>
                  <a:srgbClr val="C00000"/>
                </a:solidFill>
              </a:rPr>
              <a:t>:</a:t>
            </a:r>
            <a:endParaRPr lang="en-IN" sz="4000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1FF36-C31A-3A76-BA8E-74F0A8D0A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91733"/>
            <a:ext cx="10515600" cy="458523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and schema explanation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 (USE CASES)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query results with summaries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706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1898-F3F3-4391-5B5D-C100FB686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66" y="660399"/>
            <a:ext cx="10306555" cy="821268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3F87A-8911-2A6B-0436-A3C21B64F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622" y="1786467"/>
            <a:ext cx="9931766" cy="4493310"/>
          </a:xfrm>
        </p:spPr>
        <p:txBody>
          <a:bodyPr>
            <a:normAutofit/>
          </a:bodyPr>
          <a:lstStyle/>
          <a:p>
            <a:pPr indent="-45720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relational database for a grocery store.</a:t>
            </a:r>
          </a:p>
          <a:p>
            <a:pPr indent="-45720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retrieve and manipulate data using SQL queries.</a:t>
            </a:r>
          </a:p>
          <a:p>
            <a:pPr indent="-45720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data analysis for business insights such as top customers, best-selling products, and revenue trends.</a:t>
            </a:r>
          </a:p>
          <a:p>
            <a:pPr indent="-45720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practice using joins, aggregations, subqueries, and filtering techniques.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52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DFBCF-6D14-A881-D0E4-4B73751F9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600" y="245534"/>
            <a:ext cx="3505202" cy="956734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ER DIAGRAM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FD2BE35-4F16-C509-EACE-B9A43F89E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2" y="1202268"/>
            <a:ext cx="7188200" cy="505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FFE142-4EE3-7716-6F23-F02F70F02A6D}"/>
              </a:ext>
            </a:extLst>
          </p:cNvPr>
          <p:cNvSpPr txBox="1"/>
          <p:nvPr/>
        </p:nvSpPr>
        <p:spPr>
          <a:xfrm>
            <a:off x="8119533" y="1642533"/>
            <a:ext cx="3369734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One-to-Many from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supplier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products</a:t>
            </a:r>
            <a:endParaRPr lang="en-US" b="1" dirty="0">
              <a:latin typeface="Arial" panose="020B0604020202020204" pitchFamily="34" charset="0"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One-to-Many from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categories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products</a:t>
            </a:r>
            <a:b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One-to-Many from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products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order-details</a:t>
            </a:r>
            <a:b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One-to-Many from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orders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order-details</a:t>
            </a:r>
            <a:b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One-to-Many from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customers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orders</a:t>
            </a:r>
            <a:b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One-to-Many from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employees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orders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152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33" y="660399"/>
            <a:ext cx="5825067" cy="897468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E286A-B439-A981-0498-5FBB8AF7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181" y="1794933"/>
            <a:ext cx="9721645" cy="37990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top customers?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sell more?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total sales?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employee performs best?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trends over time 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10 Questions To Ask Your Business At ...">
            <a:extLst>
              <a:ext uri="{FF2B5EF4-FFF2-40B4-BE49-F238E27FC236}">
                <a16:creationId xmlns:a16="http://schemas.microsoft.com/office/drawing/2014/main" id="{958D9454-D571-0ECC-556C-1C51FCFFD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614" y="1947333"/>
            <a:ext cx="4861367" cy="3168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82599"/>
            <a:ext cx="5040859" cy="1359454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APPROACH</a:t>
            </a:r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1322528" y="1842053"/>
            <a:ext cx="55100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 SOLVED: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JOINS (combine tables)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GROUP BY (aggregation)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SUM, AVG, COUNT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date functions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D7D618-B8B5-8CF2-FBB0-AFF0EA95A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093" y="1541795"/>
            <a:ext cx="4842076" cy="299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533" y="491067"/>
            <a:ext cx="10367405" cy="1227666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base /Tables: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BD2A-2603-F502-B2D8-6CE9EB49EA78}"/>
              </a:ext>
            </a:extLst>
          </p:cNvPr>
          <p:cNvSpPr txBox="1"/>
          <p:nvPr/>
        </p:nvSpPr>
        <p:spPr>
          <a:xfrm>
            <a:off x="693471" y="1620145"/>
            <a:ext cx="779387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: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Grocery-store</a:t>
            </a:r>
          </a:p>
          <a:p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Order-Details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B3C5CC-B271-B758-07EA-52E9DEB87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408" y="908546"/>
            <a:ext cx="5580530" cy="423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927B-2C25-40CC-4590-F7F1CDE3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8BBF-25D0-6779-0CC9-D47815541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3200"/>
            <a:ext cx="5509549" cy="3361804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INSIGHTS:</a:t>
            </a:r>
          </a:p>
        </p:txBody>
      </p:sp>
      <p:pic>
        <p:nvPicPr>
          <p:cNvPr id="3076" name="Picture 4" descr="5 key reasons why data analytics is important to business | Penn LPS Online">
            <a:extLst>
              <a:ext uri="{FF2B5EF4-FFF2-40B4-BE49-F238E27FC236}">
                <a16:creationId xmlns:a16="http://schemas.microsoft.com/office/drawing/2014/main" id="{2E0DDC8C-96FD-E535-26DE-6D650891B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548" y="1490202"/>
            <a:ext cx="5891273" cy="415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973,200+ Data Analysis Stock Photos ...">
            <a:extLst>
              <a:ext uri="{FF2B5EF4-FFF2-40B4-BE49-F238E27FC236}">
                <a16:creationId xmlns:a16="http://schemas.microsoft.com/office/drawing/2014/main" id="{76FBDD0D-7043-A0D7-C22B-C1301BF83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57" y="2685326"/>
            <a:ext cx="4271058" cy="26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684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1800"/>
            <a:ext cx="4199467" cy="66040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5DCCC-4D7B-11A3-E7AE-A55D7E9A484F}"/>
              </a:ext>
            </a:extLst>
          </p:cNvPr>
          <p:cNvSpPr txBox="1"/>
          <p:nvPr/>
        </p:nvSpPr>
        <p:spPr>
          <a:xfrm>
            <a:off x="591749" y="1179872"/>
            <a:ext cx="5672831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an understanding of customer engagement and purchasing behavior.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unique customers have placed orders?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customers have placed the highest number of orders?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and average purchase value per  customer?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top 5 customers by total purchase amount?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F158E-A6BB-6CB3-E3D5-E5EA26928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895" y="663678"/>
            <a:ext cx="3149805" cy="2150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0781FB-6042-84E7-DD4E-97FD814C8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1015" y="663678"/>
            <a:ext cx="2065113" cy="2334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364F7E-1923-9EE7-8F2C-FACD64FF0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895" y="2900791"/>
            <a:ext cx="2503705" cy="25348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4090A8-10A4-0416-B881-35D8656457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7700" y="3313155"/>
            <a:ext cx="2288428" cy="212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E97D8-D4D8-91C4-E191-C4390275D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2067" y="1126067"/>
            <a:ext cx="4715934" cy="513741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Q1) How many unique customers have placed orders?</a:t>
            </a:r>
          </a:p>
          <a:p>
            <a:pPr marL="11430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1800" b="1" dirty="0"/>
              <a:t>Answer: </a:t>
            </a:r>
            <a:r>
              <a:rPr lang="en-US" sz="1800" dirty="0"/>
              <a:t>This shows the total number of different customers who placed orders.</a:t>
            </a:r>
          </a:p>
          <a:p>
            <a:r>
              <a:rPr lang="en-US" sz="1800" dirty="0"/>
              <a:t>It helps to understand customer reach.</a:t>
            </a:r>
          </a:p>
          <a:p>
            <a:r>
              <a:rPr lang="en-US" sz="1800" b="1" dirty="0"/>
              <a:t>Real-Life Insight : </a:t>
            </a:r>
            <a:r>
              <a:rPr lang="en-US" sz="1800" dirty="0"/>
              <a:t>More unique customers means better business growth and wider audience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E653BB-40C4-FE0C-BFFE-F27A80BB1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133" y="821267"/>
            <a:ext cx="5342465" cy="544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98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EB57B-A179-A048-D57D-B63BC935C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867" y="872067"/>
            <a:ext cx="5486400" cy="5378714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Q2) Which customers have placed the highest number of orders?</a:t>
            </a:r>
          </a:p>
          <a:p>
            <a:pPr marL="11430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1800" b="1" dirty="0"/>
              <a:t>Answer:</a:t>
            </a:r>
            <a:r>
              <a:rPr lang="en-US" sz="1800" dirty="0"/>
              <a:t> Customers are ranked based on how many orders they   placed.</a:t>
            </a:r>
          </a:p>
          <a:p>
            <a:r>
              <a:rPr lang="en-US" sz="1800" dirty="0"/>
              <a:t>Top customers order frequently.</a:t>
            </a:r>
          </a:p>
          <a:p>
            <a:r>
              <a:rPr lang="en-US" sz="1800" b="1" dirty="0"/>
              <a:t>Real-Life Insight : </a:t>
            </a:r>
            <a:r>
              <a:rPr lang="en-US" sz="1800" dirty="0"/>
              <a:t>Frequent customers are loyal. Business can target them with rewards or offers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9B214E-FF2E-A943-3867-3C3FE9540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066" y="694267"/>
            <a:ext cx="5054599" cy="456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86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D5174-C004-0109-A9AB-668530D2D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745067"/>
            <a:ext cx="5596467" cy="6629400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Q3) What is the total and average purchase value per customer?</a:t>
            </a:r>
          </a:p>
          <a:p>
            <a:pPr marL="11430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1800" b="1" dirty="0"/>
              <a:t>Answer:</a:t>
            </a:r>
            <a:r>
              <a:rPr lang="en-US" sz="1800" dirty="0"/>
              <a:t> Total shows how much a customer spent overall .</a:t>
            </a:r>
          </a:p>
          <a:p>
            <a:r>
              <a:rPr lang="en-US" sz="1800" dirty="0"/>
              <a:t>Average shows spending per order.</a:t>
            </a:r>
          </a:p>
          <a:p>
            <a:r>
              <a:rPr lang="en-US" sz="1800" b="1" dirty="0"/>
              <a:t>Real-Life Insight : </a:t>
            </a:r>
            <a:r>
              <a:rPr lang="en-US" sz="1800" dirty="0"/>
              <a:t>Helps identify high-value customers.</a:t>
            </a:r>
          </a:p>
          <a:p>
            <a:r>
              <a:rPr lang="en-US" sz="1800" dirty="0"/>
              <a:t>Useful for personalized marketing.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062BD-5E17-4D9C-CA40-CC21ABAE0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922868"/>
            <a:ext cx="4741333" cy="433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93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D8C8C-1C8E-36E8-E44A-AA8915413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016000"/>
            <a:ext cx="5147733" cy="51609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Q4) Who are the top 5  customers by total  purchase amount?</a:t>
            </a:r>
          </a:p>
          <a:p>
            <a:pPr marL="11430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1800" b="1" dirty="0"/>
              <a:t>Answer : </a:t>
            </a:r>
            <a:r>
              <a:rPr lang="en-US" sz="1800" dirty="0"/>
              <a:t>Top 5 customers are identified based on highest spending.</a:t>
            </a:r>
          </a:p>
          <a:p>
            <a:r>
              <a:rPr lang="en-US" sz="1800" dirty="0"/>
              <a:t>They contribute the most revenue .</a:t>
            </a:r>
          </a:p>
          <a:p>
            <a:r>
              <a:rPr lang="en-US" sz="1800" b="1" dirty="0"/>
              <a:t>Real-Life Insight :</a:t>
            </a:r>
            <a:r>
              <a:rPr lang="en-US" sz="1800" dirty="0"/>
              <a:t>These  customers are very important for business .</a:t>
            </a:r>
          </a:p>
          <a:p>
            <a:r>
              <a:rPr lang="en-US" sz="1800" dirty="0"/>
              <a:t>They should be retained with special benefits.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FA82BA-FA54-CF95-32B3-6F853BF2E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53031"/>
            <a:ext cx="4952999" cy="522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13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457200"/>
            <a:ext cx="4097867" cy="783371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225573-9760-32AB-12B0-BF268BDB61B8}"/>
              </a:ext>
            </a:extLst>
          </p:cNvPr>
          <p:cNvSpPr txBox="1"/>
          <p:nvPr/>
        </p:nvSpPr>
        <p:spPr>
          <a:xfrm>
            <a:off x="719666" y="1524001"/>
            <a:ext cx="491913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how well products are performing in terms of sales and revenue.</a:t>
            </a:r>
          </a:p>
          <a:p>
            <a:pPr fontAlgn="base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products exist in each category?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price of products by category?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have the highest total sales volume (by quantity)?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revenue generated by each product?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product sales vary by category and supplier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952C4E-7AA0-21E9-C293-1C51EA031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421540"/>
            <a:ext cx="2636342" cy="22049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F823E9-CB29-4FC4-0A9A-07C6839E7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58" y="457200"/>
            <a:ext cx="2636342" cy="22049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346A38-CC69-FBA0-4C29-E5415D444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207" y="2500394"/>
            <a:ext cx="2733089" cy="17311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7E3D7F-F22F-41D7-0F4E-519B68146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2458" y="2500394"/>
            <a:ext cx="2353097" cy="13836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012C9A-C685-75F9-DDF9-CAB90111AB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3013" y="4278603"/>
            <a:ext cx="2688565" cy="133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862AE-3DB8-3ABC-5534-D4D88ABB1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068" y="1045633"/>
            <a:ext cx="4936065" cy="5516033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Q1) How many products exist in each category ?</a:t>
            </a: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1800" b="1" dirty="0"/>
              <a:t>Answer: </a:t>
            </a:r>
            <a:r>
              <a:rPr lang="en-US" sz="1800" dirty="0"/>
              <a:t>This shows the number of products in each category .</a:t>
            </a:r>
          </a:p>
          <a:p>
            <a:r>
              <a:rPr lang="en-US" sz="1800" b="1" dirty="0"/>
              <a:t>Real-Life Insight : </a:t>
            </a:r>
            <a:r>
              <a:rPr lang="en-US" sz="1800" dirty="0"/>
              <a:t>Helps understand product distribution .</a:t>
            </a:r>
          </a:p>
          <a:p>
            <a:r>
              <a:rPr lang="en-US" sz="1800" dirty="0"/>
              <a:t>Business can balance categories properly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3E64F-7C36-A12B-A353-6AFD6D4E4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74700"/>
            <a:ext cx="5308600" cy="55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398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5BF09-ACF5-7382-499A-F0083EC0F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7667"/>
            <a:ext cx="5037668" cy="5748866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Q2) What is the average price of products by category?</a:t>
            </a:r>
          </a:p>
          <a:p>
            <a:pPr marL="11430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1800" b="1" dirty="0"/>
              <a:t>Answer: </a:t>
            </a:r>
            <a:r>
              <a:rPr lang="en-US" sz="1800" dirty="0"/>
              <a:t>This shows the average cost of products in each category.</a:t>
            </a:r>
          </a:p>
          <a:p>
            <a:r>
              <a:rPr lang="en-US" sz="1800" b="1" dirty="0"/>
              <a:t>Real-Life Insight : </a:t>
            </a:r>
            <a:r>
              <a:rPr lang="en-US" sz="1800" dirty="0"/>
              <a:t>Helps identify expensive and affordable categories.</a:t>
            </a:r>
          </a:p>
          <a:p>
            <a:r>
              <a:rPr lang="en-US" sz="1800" dirty="0"/>
              <a:t>Useful for pricing strategy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E930-1A8B-CED9-C302-2747A588C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133" y="939799"/>
            <a:ext cx="5257800" cy="446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05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CB26B-7969-F4A8-73D7-86745CB17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855132"/>
            <a:ext cx="5300133" cy="5901267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Q3) Which products have the highest total sales volume?</a:t>
            </a:r>
          </a:p>
          <a:p>
            <a:pPr marL="11430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1800" b="1" dirty="0"/>
              <a:t>Answer:</a:t>
            </a:r>
            <a:r>
              <a:rPr lang="en-US" sz="1800" dirty="0"/>
              <a:t> Products are ranked based on total quantity sold .</a:t>
            </a:r>
          </a:p>
          <a:p>
            <a:r>
              <a:rPr lang="en-US" sz="1800" b="1" dirty="0"/>
              <a:t>Real-Life Insight :</a:t>
            </a:r>
            <a:r>
              <a:rPr lang="en-US" sz="1800" dirty="0"/>
              <a:t> High-demand products should always be in stock.</a:t>
            </a:r>
          </a:p>
          <a:p>
            <a:r>
              <a:rPr lang="en-US" sz="1800" dirty="0"/>
              <a:t>They drive regular sales.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AC6D7-E7DE-DCEA-8198-7680A17CC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199" y="956733"/>
            <a:ext cx="5545667" cy="440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108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8D642-0AE5-C88A-9AC1-DBB30E9E0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083733"/>
            <a:ext cx="4588932" cy="5093229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Q4) What is the total revenue generated by each product?</a:t>
            </a:r>
          </a:p>
          <a:p>
            <a:pPr marL="11430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1800" b="1" dirty="0"/>
              <a:t>Answer: </a:t>
            </a:r>
            <a:r>
              <a:rPr lang="en-US" sz="1800" dirty="0"/>
              <a:t>Shows how much money each product generated.</a:t>
            </a:r>
          </a:p>
          <a:p>
            <a:r>
              <a:rPr lang="en-US" sz="1800" b="1" dirty="0"/>
              <a:t>Real-Life Insight: </a:t>
            </a:r>
            <a:r>
              <a:rPr lang="en-US" sz="1800" dirty="0"/>
              <a:t>Helps identify most profitable products.</a:t>
            </a:r>
          </a:p>
          <a:p>
            <a:r>
              <a:rPr lang="en-US" sz="1800" dirty="0"/>
              <a:t>Focus more on high-revenue items.</a:t>
            </a: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BF227-2F99-77F1-E548-A601BA98A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133" y="1016000"/>
            <a:ext cx="54610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1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8413F-A2F3-33B0-0DD4-3865178A5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93800"/>
            <a:ext cx="5401733" cy="5249333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Q5) How do product sales vary by category and supplier?</a:t>
            </a: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1800" b="1" dirty="0"/>
              <a:t>Answer: </a:t>
            </a:r>
            <a:r>
              <a:rPr lang="en-US" sz="1800" dirty="0"/>
              <a:t>Sales are grouped by category and supplier combination.</a:t>
            </a:r>
          </a:p>
          <a:p>
            <a:r>
              <a:rPr lang="en-US" sz="1800" b="1" dirty="0"/>
              <a:t>Real-Life Insight : </a:t>
            </a:r>
            <a:r>
              <a:rPr lang="en-US" sz="1800" dirty="0"/>
              <a:t>Helps find which supplier-category performs best .</a:t>
            </a:r>
          </a:p>
          <a:p>
            <a:r>
              <a:rPr lang="en-US" sz="1800" dirty="0"/>
              <a:t>Useful for business partnerships.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757B98-8D80-A4A9-807F-A35BF1B0B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066" y="1532467"/>
            <a:ext cx="5232401" cy="339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774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1A13-0770-5F19-9105-5BE0808A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671AE-6593-5B1A-5289-CECB9FBCD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3627"/>
            <a:ext cx="4512733" cy="472440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Order Trends: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0BED0-DA99-02A6-1059-3464150F3A48}"/>
              </a:ext>
            </a:extLst>
          </p:cNvPr>
          <p:cNvSpPr txBox="1"/>
          <p:nvPr/>
        </p:nvSpPr>
        <p:spPr>
          <a:xfrm>
            <a:off x="1021927" y="1345353"/>
            <a:ext cx="4769273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business performance through  orders and revenue over time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orders have been placed in total?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value per order?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which dates were the most orders placed?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monthly trends in order volume and revenue?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order patterns vary across weekdays and weekends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CE55AB-B55D-1AAC-AE0B-08778FDDF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599" y="524933"/>
            <a:ext cx="2689188" cy="25247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4EA5C6-FB29-A342-B8DE-3E789AE21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593" y="585034"/>
            <a:ext cx="2689188" cy="18711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86F2D0-3990-6524-B32A-2C10EAA63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599" y="2692399"/>
            <a:ext cx="2689188" cy="16594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E6157B-1D07-5152-BCD7-B5D55C160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593" y="2692399"/>
            <a:ext cx="2784979" cy="18880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61D1DB-D923-0C26-8BE2-36BA47F1E5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599" y="4633357"/>
            <a:ext cx="2893994" cy="14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34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7E877-DB7C-1718-F4E5-7DB5A577B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93800"/>
            <a:ext cx="4842933" cy="354753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Q1) How many orders have been placed in total ?</a:t>
            </a: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1800" b="1" dirty="0"/>
              <a:t>Answer : </a:t>
            </a:r>
            <a:r>
              <a:rPr lang="en-US" sz="1800" dirty="0"/>
              <a:t>Counts total number of orders in the system.</a:t>
            </a:r>
          </a:p>
          <a:p>
            <a:r>
              <a:rPr lang="en-US" sz="1800" b="1" dirty="0"/>
              <a:t>Real-Life Insight : </a:t>
            </a:r>
            <a:r>
              <a:rPr lang="en-US" sz="1800" dirty="0"/>
              <a:t>Shows overall business activity level.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CB1542-246E-BD51-B63A-01ED4465C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0" y="1126067"/>
            <a:ext cx="4842933" cy="403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38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429B4-3D48-4156-2AD4-0C21429EA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22867"/>
            <a:ext cx="5113867" cy="4114801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Q2) What is the average value per order?</a:t>
            </a: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2000" b="1" dirty="0"/>
              <a:t>Answer :</a:t>
            </a:r>
            <a:r>
              <a:rPr lang="en-US" sz="2000" dirty="0"/>
              <a:t> Shows average money spent per order.</a:t>
            </a:r>
          </a:p>
          <a:p>
            <a:r>
              <a:rPr lang="en-US" sz="2000" b="1" dirty="0"/>
              <a:t>Real-Life Insight : </a:t>
            </a:r>
            <a:r>
              <a:rPr lang="en-US" sz="2000" dirty="0"/>
              <a:t>Higher average means customers are buying more items.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35E727-6953-9C78-622B-F64454B09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733" y="922867"/>
            <a:ext cx="4936067" cy="396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714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8D3FA-C3C7-1B61-523C-F6F216D73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3600" y="1439332"/>
            <a:ext cx="5435600" cy="4910667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Q3) On which dates were the most orders placed?</a:t>
            </a: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2000" b="1" dirty="0"/>
              <a:t>Answer</a:t>
            </a:r>
            <a:r>
              <a:rPr lang="en-US" sz="2000" dirty="0"/>
              <a:t>: Identifies days with highest number of orders.</a:t>
            </a:r>
          </a:p>
          <a:p>
            <a:r>
              <a:rPr lang="en-US" sz="2000" b="1" dirty="0"/>
              <a:t>Real-Life Insight </a:t>
            </a:r>
            <a:r>
              <a:rPr lang="en-US" sz="2000" dirty="0"/>
              <a:t>: Helps plan offers during peak days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CA1CE5-E1EE-FC65-6380-003AA7129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201" y="1168400"/>
            <a:ext cx="4377266" cy="386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404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35314-E1D6-6E30-1190-12E0A91FE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14400"/>
            <a:ext cx="5520267" cy="5262563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Q4) What are the monthly trends in order volume and revenue?</a:t>
            </a: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1800" b="1" dirty="0"/>
              <a:t>Answer : </a:t>
            </a:r>
            <a:r>
              <a:rPr lang="en-US" sz="1800" dirty="0"/>
              <a:t>Shows how orders and revenue change month by month.</a:t>
            </a:r>
          </a:p>
          <a:p>
            <a:r>
              <a:rPr lang="en-US" sz="1800" b="1" dirty="0"/>
              <a:t>Real-Life Insight :</a:t>
            </a:r>
            <a:r>
              <a:rPr lang="en-US" sz="1800" dirty="0"/>
              <a:t>Helps identify seasonal trends.</a:t>
            </a:r>
          </a:p>
          <a:p>
            <a:r>
              <a:rPr lang="en-US" sz="1800" dirty="0"/>
              <a:t>Business can plan stock and marketing.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6BD0A3-A5A6-CA44-DAD1-F66053BD5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133" y="1219200"/>
            <a:ext cx="4842934" cy="405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75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E3A95-9303-83FE-FAEE-54D41FFD6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49867"/>
            <a:ext cx="5520267" cy="5127096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Q5) How do order patterns vary across weekdays and weekends?</a:t>
            </a: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1800" b="1" dirty="0"/>
              <a:t>Answer:</a:t>
            </a:r>
            <a:r>
              <a:rPr lang="en-US" sz="1800" dirty="0"/>
              <a:t> Orders are grouped into weekday and weekend .</a:t>
            </a:r>
          </a:p>
          <a:p>
            <a:r>
              <a:rPr lang="en-US" sz="1800" b="1" dirty="0"/>
              <a:t>Real-Life Insight : </a:t>
            </a:r>
            <a:r>
              <a:rPr lang="en-US" sz="1800" dirty="0"/>
              <a:t>Helps understand customer buying behavior .</a:t>
            </a:r>
          </a:p>
          <a:p>
            <a:r>
              <a:rPr lang="en-US" sz="1800" dirty="0"/>
              <a:t>Weekend offers can increase sales.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82167-815A-90D3-D8A2-0C5A9020F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668" y="1363132"/>
            <a:ext cx="4665132" cy="481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347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592666"/>
            <a:ext cx="3911600" cy="586349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 Contribution: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EB3D4-2D46-752B-3058-5F5DC0214EDD}"/>
              </a:ext>
            </a:extLst>
          </p:cNvPr>
          <p:cNvSpPr txBox="1"/>
          <p:nvPr/>
        </p:nvSpPr>
        <p:spPr>
          <a:xfrm>
            <a:off x="440268" y="1524000"/>
            <a:ext cx="554566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most active and profitable suppliers.</a:t>
            </a:r>
          </a:p>
          <a:p>
            <a:pPr fontAlgn="base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suppliers are there in the database?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supplier provides the most products?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price of products from each supplier?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suppliers contribute the most to total product sales (by revenue)?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492285-B98C-AC4D-6948-39CB9F4BD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067" y="803303"/>
            <a:ext cx="2859006" cy="24563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2392DB-ADB5-209D-8950-DE794716B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4133" y="803304"/>
            <a:ext cx="2514600" cy="22954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601B1E-2DCA-7471-C767-4B25A8346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067" y="3098800"/>
            <a:ext cx="2859006" cy="16594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9AA3FA-93DF-252E-B32E-4CD621D41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4134" y="3098800"/>
            <a:ext cx="2514599" cy="165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FEF7D-73B9-88A6-DE35-3E1B22A4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09133"/>
            <a:ext cx="5088467" cy="5334000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Q1) How many suppliers are there?</a:t>
            </a:r>
          </a:p>
          <a:p>
            <a:pPr marL="11430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1800" b="1" dirty="0"/>
              <a:t>Answer: </a:t>
            </a:r>
            <a:r>
              <a:rPr lang="en-US" sz="1800" dirty="0"/>
              <a:t>Counts total number of suppliers.</a:t>
            </a:r>
          </a:p>
          <a:p>
            <a:pPr marL="114300" indent="0">
              <a:buNone/>
            </a:pPr>
            <a:endParaRPr lang="en-US" sz="1800" dirty="0"/>
          </a:p>
          <a:p>
            <a:r>
              <a:rPr lang="en-US" sz="1800" b="1" dirty="0"/>
              <a:t>Real-Life Insight </a:t>
            </a:r>
            <a:r>
              <a:rPr lang="en-US" sz="1800" dirty="0"/>
              <a:t>: More suppliers give more product variety.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F0D3A2-6322-0D6B-A12B-F5E4EAE0D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067" y="1109133"/>
            <a:ext cx="5427133" cy="512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06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64036-C088-D2D8-02CD-633572D6E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35102"/>
            <a:ext cx="5630333" cy="5622897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Q2) Which supplier provides the most products?</a:t>
            </a: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2000" b="1" dirty="0"/>
              <a:t>Answer :</a:t>
            </a:r>
            <a:r>
              <a:rPr lang="en-US" sz="2000" dirty="0"/>
              <a:t> Supplier with highest number of products is identified.</a:t>
            </a:r>
          </a:p>
          <a:p>
            <a:r>
              <a:rPr lang="en-US" sz="2000" b="1" dirty="0"/>
              <a:t>Real-Life Insight : </a:t>
            </a:r>
            <a:r>
              <a:rPr lang="en-US" sz="2000" dirty="0"/>
              <a:t>Important supplier for inventory.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4E36C0-16F6-E9B6-19BF-2C2FD0195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533" y="1235102"/>
            <a:ext cx="5147735" cy="399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141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DDAAD-3A99-0ACF-7E68-763ED3F4C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34533"/>
            <a:ext cx="5799667" cy="5042430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Q3) What is the average price of products from each supplier?</a:t>
            </a:r>
          </a:p>
          <a:p>
            <a:pPr marL="11430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1800" b="1" dirty="0"/>
              <a:t>Answer : </a:t>
            </a:r>
            <a:r>
              <a:rPr lang="en-US" sz="1800" dirty="0"/>
              <a:t>Shows average product price per supplier.</a:t>
            </a:r>
          </a:p>
          <a:p>
            <a:endParaRPr lang="en-US" sz="1800" dirty="0"/>
          </a:p>
          <a:p>
            <a:r>
              <a:rPr lang="en-US" sz="1800" b="1" dirty="0"/>
              <a:t>Real-Life Insight :</a:t>
            </a:r>
            <a:r>
              <a:rPr lang="en-US" sz="1800" dirty="0"/>
              <a:t>Helps compare supplier pricing.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64DA2B-0A8F-5DFC-3958-948C01E1E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599" y="1063277"/>
            <a:ext cx="4715933" cy="388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385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27A7-44AE-16E8-6717-EA721B115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2" y="1092200"/>
            <a:ext cx="4986868" cy="4402667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Q4) Which suppliers contribute the most revenue?</a:t>
            </a:r>
          </a:p>
          <a:p>
            <a:pPr marL="11430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1800" b="1" dirty="0"/>
              <a:t>Answer</a:t>
            </a:r>
            <a:r>
              <a:rPr lang="en-US" sz="1800" dirty="0"/>
              <a:t>: Suppliers are ranked by total sales value.</a:t>
            </a:r>
          </a:p>
          <a:p>
            <a:r>
              <a:rPr lang="en-US" sz="1800" b="1" dirty="0"/>
              <a:t>Real-Life Insight</a:t>
            </a:r>
            <a:r>
              <a:rPr lang="en-US" sz="1800" dirty="0"/>
              <a:t> : Top suppliers are key business partners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2A1EFB-9B40-2EBA-979C-603B98FED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133" y="1244601"/>
            <a:ext cx="4986867" cy="390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20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B1F-F52B-AB9B-23B5-48A7B7E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7876-07C0-93DC-2DD7-21561A9F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6" y="354768"/>
            <a:ext cx="4360333" cy="614589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Performance: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8F9E6F-94AA-3804-4237-93C72AE7413D}"/>
              </a:ext>
            </a:extLst>
          </p:cNvPr>
          <p:cNvSpPr txBox="1"/>
          <p:nvPr/>
        </p:nvSpPr>
        <p:spPr>
          <a:xfrm>
            <a:off x="770468" y="1286933"/>
            <a:ext cx="436033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 how employees are handling and influencing sales.</a:t>
            </a:r>
          </a:p>
          <a:p>
            <a:pPr fontAlgn="base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employees have processed orders?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employees have handled the most orders?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sales value processed by each employee?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order value handled per employee?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BDD20C-C10E-4DE8-57FB-C0D866D2F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9" y="969357"/>
            <a:ext cx="3013525" cy="20574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FFDBED-FE52-A274-C244-D2CA136BD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133" y="969357"/>
            <a:ext cx="2827868" cy="172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B61B31-9FF0-8036-DAB4-280EA34BA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026758"/>
            <a:ext cx="3013524" cy="18669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1677DA-9D39-A783-B68C-49A292043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404" y="3026758"/>
            <a:ext cx="2683325" cy="18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14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9CCAC-BBC7-C616-7805-54F38722E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9199"/>
            <a:ext cx="5376333" cy="4957763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Q1) How many employees processed orders?</a:t>
            </a:r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r>
              <a:rPr lang="en-US" sz="1800" b="1" dirty="0"/>
              <a:t>Answer</a:t>
            </a:r>
            <a:r>
              <a:rPr lang="en-US" sz="1800" dirty="0"/>
              <a:t>: Counts employees who handled orders.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Real-Life Insight </a:t>
            </a:r>
            <a:r>
              <a:rPr lang="en-US" sz="1800" dirty="0"/>
              <a:t>: Shows workforce involvement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0C32A1-085C-2BE5-0B45-6AA8B2F3F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354667"/>
            <a:ext cx="4986867" cy="46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860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91B9F-50D0-3D07-BA47-55C030FBE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37168"/>
            <a:ext cx="5139267" cy="5566832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Q2) Which employees handled the most orders?</a:t>
            </a:r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r>
              <a:rPr lang="en-US" sz="1800" b="1" dirty="0"/>
              <a:t>Answer:</a:t>
            </a:r>
            <a:r>
              <a:rPr lang="en-US" sz="1800" dirty="0"/>
              <a:t> Employees ranked by number of orders   handled.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Real-Life Insight :</a:t>
            </a:r>
            <a:r>
              <a:rPr lang="en-US" sz="1800" dirty="0"/>
              <a:t>Top  performers can be rewarded.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23EB5B-5307-0DBD-7A2E-3EE63BA44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267" y="1037167"/>
            <a:ext cx="4995333" cy="398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50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E108E-495B-DC4F-941B-1759B482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09135"/>
            <a:ext cx="5477933" cy="4940828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Q3) What is the total sales handled by each employee?</a:t>
            </a: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1800" b="1" dirty="0"/>
              <a:t>Answer:</a:t>
            </a:r>
            <a:r>
              <a:rPr lang="en-US" sz="1800" dirty="0"/>
              <a:t> Shows sales value handled per employee.</a:t>
            </a:r>
          </a:p>
          <a:p>
            <a:endParaRPr lang="en-US" sz="1800" dirty="0"/>
          </a:p>
          <a:p>
            <a:r>
              <a:rPr lang="en-US" sz="1800" b="1" dirty="0"/>
              <a:t> Real-Life Insight </a:t>
            </a:r>
            <a:r>
              <a:rPr lang="en-US" sz="1800" dirty="0"/>
              <a:t>: Helps measure employee contribution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90D644-85E1-FBF0-B322-7090D92EF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00" y="1236134"/>
            <a:ext cx="4775200" cy="363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252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44A39-CA42-ACD4-6604-308F883ED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278467"/>
            <a:ext cx="5384800" cy="4898496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Q4) What is the average order value per employee?</a:t>
            </a: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1800" b="1" dirty="0"/>
              <a:t>Answer: </a:t>
            </a:r>
            <a:r>
              <a:rPr lang="en-US" sz="1800" dirty="0"/>
              <a:t>Shows average value of orders handled. </a:t>
            </a:r>
          </a:p>
          <a:p>
            <a:endParaRPr lang="en-US" sz="1800" dirty="0"/>
          </a:p>
          <a:p>
            <a:r>
              <a:rPr lang="en-US" sz="1800" b="1" dirty="0"/>
              <a:t>Real-Life Insight :</a:t>
            </a:r>
            <a:r>
              <a:rPr lang="en-US" sz="1800" dirty="0"/>
              <a:t> Indicates efficiency of employees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60582B-CD44-EF85-1AB2-E43E777B8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134" y="855132"/>
            <a:ext cx="4665133" cy="452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5775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6B82-888C-47A4-9A93-E3BDA0BC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AAAA-6A70-A375-E36A-57C13DEB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66" y="384387"/>
            <a:ext cx="4216401" cy="793941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details deep drive:</a:t>
            </a:r>
            <a:endParaRPr lang="en-I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51807-EF73-996C-FC9E-4B42D30106B2}"/>
              </a:ext>
            </a:extLst>
          </p:cNvPr>
          <p:cNvSpPr txBox="1"/>
          <p:nvPr/>
        </p:nvSpPr>
        <p:spPr>
          <a:xfrm>
            <a:off x="487680" y="1397000"/>
            <a:ext cx="47955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item-level sale patterns and pricing behavior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relationship between quantity ordered and total price?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quantity ordered per product?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unit price vary across products and orders?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B0710F-E92A-AAAB-94CF-9867780E7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466" y="671290"/>
            <a:ext cx="3488267" cy="23168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3CED2E-FF11-D144-22EB-CEFC0E50A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8734" y="671290"/>
            <a:ext cx="2540000" cy="22322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408937-D446-3893-E0E9-6DD0703678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428" y="3184995"/>
            <a:ext cx="5013960" cy="247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140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64B9B-DEFB-1600-DEE6-D72856033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278467"/>
            <a:ext cx="5257800" cy="4822296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Q1) What is the relationship between quantity and total price?</a:t>
            </a: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1800" b="1" dirty="0"/>
              <a:t>Answer:</a:t>
            </a:r>
            <a:r>
              <a:rPr lang="en-US" sz="1800" dirty="0"/>
              <a:t> Shows how total price changes with quantity .</a:t>
            </a:r>
          </a:p>
          <a:p>
            <a:endParaRPr lang="en-US" sz="1800" dirty="0"/>
          </a:p>
          <a:p>
            <a:r>
              <a:rPr lang="en-US" sz="1800" b="1" dirty="0"/>
              <a:t>Real-Life Insight :</a:t>
            </a:r>
            <a:r>
              <a:rPr lang="en-US" sz="1800" dirty="0"/>
              <a:t> Higher quantity usually increases total sales.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25017-0863-8E67-026B-39B089EB2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932" y="1354667"/>
            <a:ext cx="4986867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8373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0269E-FFC5-FAB0-FB83-FDFCF0B83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20799"/>
            <a:ext cx="5325533" cy="4856163"/>
          </a:xfrm>
        </p:spPr>
        <p:txBody>
          <a:bodyPr/>
          <a:lstStyle/>
          <a:p>
            <a:pPr marL="11430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Q2) What is the average quantity ordered per product?</a:t>
            </a: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1800" b="1" dirty="0"/>
              <a:t>Answer:</a:t>
            </a:r>
            <a:r>
              <a:rPr lang="en-US" sz="1800" dirty="0"/>
              <a:t> Shows average number of items ordered per product .</a:t>
            </a:r>
          </a:p>
          <a:p>
            <a:endParaRPr lang="en-US" sz="1800" dirty="0"/>
          </a:p>
          <a:p>
            <a:r>
              <a:rPr lang="en-US" sz="1800" b="1" dirty="0"/>
              <a:t>Real-Life Insight : </a:t>
            </a:r>
            <a:r>
              <a:rPr lang="en-US" sz="1800" dirty="0"/>
              <a:t>Helps identify popular products.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5927A6-B55E-5454-2B63-FFC6A175E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400" y="1083733"/>
            <a:ext cx="4292600" cy="415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4420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929DD-0D47-73C0-B9D9-4DA3A4B13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1935" y="948267"/>
            <a:ext cx="5257800" cy="4377265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solidFill>
                  <a:srgbClr val="C00000"/>
                </a:solidFill>
              </a:rPr>
              <a:t>Q3) How does  the unit price vary across products and orders?</a:t>
            </a:r>
          </a:p>
          <a:p>
            <a:pPr marL="114300" indent="0">
              <a:buNone/>
            </a:pPr>
            <a:endParaRPr lang="en-US" b="1" dirty="0"/>
          </a:p>
          <a:p>
            <a:r>
              <a:rPr lang="en-US" sz="1800" b="1" dirty="0"/>
              <a:t>Answer: </a:t>
            </a:r>
            <a:r>
              <a:rPr lang="en-US" sz="1800" dirty="0"/>
              <a:t>Shows minimum, maximum, and average price.</a:t>
            </a:r>
          </a:p>
          <a:p>
            <a:endParaRPr lang="en-US" sz="1800" dirty="0"/>
          </a:p>
          <a:p>
            <a:r>
              <a:rPr lang="en-US" sz="1800" b="1" dirty="0"/>
              <a:t>Real-Life Insight : </a:t>
            </a:r>
            <a:r>
              <a:rPr lang="en-US" sz="1800" dirty="0"/>
              <a:t>Helps understand pricing differences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6A76F8-6817-5459-2A43-AA3C2D842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361" y="948267"/>
            <a:ext cx="5013960" cy="437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436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5B7C-AA90-99FB-5C4D-6097FBAB8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INAL BUSINESS INSIGHTS :</a:t>
            </a:r>
            <a:endParaRPr lang="en-IN" sz="2800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D2E51-A851-8168-4527-901D6D18B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2400"/>
            <a:ext cx="10515600" cy="4754564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sz="3800" b="1" dirty="0"/>
              <a:t> </a:t>
            </a:r>
            <a:r>
              <a:rPr lang="en-US" sz="2600" b="1" dirty="0"/>
              <a:t>Key Insights </a:t>
            </a:r>
            <a:r>
              <a:rPr lang="en-US" sz="2600" dirty="0"/>
              <a:t>: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sz="2400" dirty="0"/>
              <a:t>A major portion of revenue comes from a small group of high-value customers .</a:t>
            </a:r>
          </a:p>
          <a:p>
            <a:r>
              <a:rPr lang="en-US" sz="2400" dirty="0"/>
              <a:t>Some products consistently generate higher sales and revenue compared to others .</a:t>
            </a:r>
          </a:p>
          <a:p>
            <a:r>
              <a:rPr lang="en-US" sz="2400" dirty="0"/>
              <a:t>Sales performance varies across different categories and suppliers.</a:t>
            </a:r>
          </a:p>
          <a:p>
            <a:r>
              <a:rPr lang="en-US" sz="2400" dirty="0"/>
              <a:t>Order patterns show clear variation across specific days and months.</a:t>
            </a:r>
          </a:p>
          <a:p>
            <a:r>
              <a:rPr lang="en-US" sz="2400" dirty="0"/>
              <a:t>Employee contribution is not equal, with some employees handling more orders and sales.</a:t>
            </a:r>
          </a:p>
          <a:p>
            <a:endParaRPr lang="en-US" sz="2400" dirty="0"/>
          </a:p>
          <a:p>
            <a:pPr marL="114300" indent="0">
              <a:buNone/>
            </a:pPr>
            <a:r>
              <a:rPr lang="en-US" sz="2400" b="1" dirty="0"/>
              <a:t>Insight Summary : </a:t>
            </a:r>
            <a:r>
              <a:rPr lang="en-US" sz="2400" dirty="0"/>
              <a:t>These patterns highlight key areas that drive business   performance and growth.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35093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27EA-359A-233B-7EE3-B159357A1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992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Business Recommendations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025F6-5534-D202-AB53-B45D9D0CE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57867"/>
            <a:ext cx="10515600" cy="4619096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b="1" dirty="0"/>
              <a:t>Recommendations:</a:t>
            </a:r>
          </a:p>
          <a:p>
            <a:pPr marL="114300" indent="0">
              <a:buNone/>
            </a:pPr>
            <a:endParaRPr lang="en-US" b="1" dirty="0"/>
          </a:p>
          <a:p>
            <a:r>
              <a:rPr lang="en-US" sz="2400" dirty="0"/>
              <a:t>Retain high-value customers through personalized offers and loyalty programs.</a:t>
            </a:r>
          </a:p>
          <a:p>
            <a:r>
              <a:rPr lang="en-US" sz="2400" dirty="0"/>
              <a:t>Maintain proper stock levels for high-demand products.</a:t>
            </a:r>
          </a:p>
          <a:p>
            <a:r>
              <a:rPr lang="en-US" sz="2400" dirty="0"/>
              <a:t>Improve low-performing categories using promotions and better pricing strategies.</a:t>
            </a:r>
          </a:p>
          <a:p>
            <a:r>
              <a:rPr lang="en-US" sz="2400" dirty="0"/>
              <a:t>Build strong relationships with top-performing suppliers .</a:t>
            </a:r>
          </a:p>
          <a:p>
            <a:r>
              <a:rPr lang="en-US" sz="2400" dirty="0"/>
              <a:t>Plan marketing campaigns during peak sales periods.</a:t>
            </a:r>
          </a:p>
          <a:p>
            <a:r>
              <a:rPr lang="en-US" sz="2400" dirty="0"/>
              <a:t>Provide training and support to improve employee performance.</a:t>
            </a:r>
          </a:p>
          <a:p>
            <a:endParaRPr lang="en-US" sz="2400" dirty="0"/>
          </a:p>
          <a:p>
            <a:pPr marL="114300" indent="0">
              <a:buNone/>
            </a:pPr>
            <a:r>
              <a:rPr lang="en-US" sz="2400" b="1" dirty="0"/>
              <a:t>Recommendation Summary</a:t>
            </a:r>
            <a:r>
              <a:rPr lang="en-US" sz="2400" dirty="0"/>
              <a:t>: Applying these strategies can help increase sales, improve efficiency, and boost overall profitability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08581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3B7422F-A42C-D0BC-BCC8-74FDAE65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79" y="1690688"/>
            <a:ext cx="10112587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customer orders, product sales, and revenue in a grocery store database.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helps us understand which products sell more and how customers place orders.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monthly analysis shows how sales and revenue change over time.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using this data, the business can: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sales in low months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stock in high-demand months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products that perform well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analysis helps the business make better decisions and increase profit.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5EB340-4F4F-4930-D7ED-C9B1B4AF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79" y="365125"/>
            <a:ext cx="10815321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CONCLUSION :</a:t>
            </a:r>
            <a:endParaRPr lang="en-IN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B056F-9062-30AD-DC3E-EDA58FCBD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E098-0529-B472-5056-1F631A096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075" y="839926"/>
            <a:ext cx="5018925" cy="1251752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 &amp; Challenges: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1A428-01E5-9008-A394-3C8E20C6A14D}"/>
              </a:ext>
            </a:extLst>
          </p:cNvPr>
          <p:cNvSpPr txBox="1"/>
          <p:nvPr/>
        </p:nvSpPr>
        <p:spPr>
          <a:xfrm>
            <a:off x="1481667" y="2305615"/>
            <a:ext cx="582506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table relationships and applying correct joins.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data consistency with foreign key constraints.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aggregation across joined  tables.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time-based trends from date data (especially if in VARCHAR format).</a:t>
            </a:r>
          </a:p>
        </p:txBody>
      </p:sp>
    </p:spTree>
    <p:extLst>
      <p:ext uri="{BB962C8B-B14F-4D97-AF65-F5344CB8AC3E}">
        <p14:creationId xmlns:p14="http://schemas.microsoft.com/office/powerpoint/2010/main" val="13635717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4466DAD-25FF-3D8F-1EEE-78F17B055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5" y="174503"/>
            <a:ext cx="9417049" cy="588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F1FB5D26-1BC2-45B5-5BCB-F1DF929F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>
            <a:extLst>
              <a:ext uri="{FF2B5EF4-FFF2-40B4-BE49-F238E27FC236}">
                <a16:creationId xmlns:a16="http://schemas.microsoft.com/office/drawing/2014/main" id="{A30C4859-54E9-B096-0C07-32BA83755F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3178" y="2601247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42F01092-7308-BBFE-4137-EAAC184D440C}"/>
              </a:ext>
            </a:extLst>
          </p:cNvPr>
          <p:cNvSpPr txBox="1"/>
          <p:nvPr/>
        </p:nvSpPr>
        <p:spPr>
          <a:xfrm>
            <a:off x="3983084" y="1081308"/>
            <a:ext cx="471625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630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1856</Words>
  <Application>Microsoft Office PowerPoint</Application>
  <PresentationFormat>Widescreen</PresentationFormat>
  <Paragraphs>265</Paragraphs>
  <Slides>47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Calibri</vt:lpstr>
      <vt:lpstr>Arial</vt:lpstr>
      <vt:lpstr>Libre Baskerville</vt:lpstr>
      <vt:lpstr>Times New Roman</vt:lpstr>
      <vt:lpstr>Office Theme</vt:lpstr>
      <vt:lpstr>PowerPoint Presentation</vt:lpstr>
      <vt:lpstr>About Me:</vt:lpstr>
      <vt:lpstr>Project overview:</vt:lpstr>
      <vt:lpstr>Agenda:</vt:lpstr>
      <vt:lpstr>Objectives:</vt:lpstr>
      <vt:lpstr>ER DIAGRAM</vt:lpstr>
      <vt:lpstr>Business Questions:</vt:lpstr>
      <vt:lpstr>SQL APPROACH:</vt:lpstr>
      <vt:lpstr>Data base /Tables:</vt:lpstr>
      <vt:lpstr> ANALYSIS &amp; INSIGHTS:</vt:lpstr>
      <vt:lpstr>Customer Insights:</vt:lpstr>
      <vt:lpstr>PowerPoint Presentation</vt:lpstr>
      <vt:lpstr>PowerPoint Presentation</vt:lpstr>
      <vt:lpstr>PowerPoint Presentation</vt:lpstr>
      <vt:lpstr>PowerPoint Presentation</vt:lpstr>
      <vt:lpstr>Product Performance: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Sales and Order Trends: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Supplier Contribution:</vt:lpstr>
      <vt:lpstr>PowerPoint Presentation</vt:lpstr>
      <vt:lpstr>PowerPoint Presentation</vt:lpstr>
      <vt:lpstr>PowerPoint Presentation</vt:lpstr>
      <vt:lpstr>PowerPoint Presentation</vt:lpstr>
      <vt:lpstr>Employee Performance:</vt:lpstr>
      <vt:lpstr>PowerPoint Presentation</vt:lpstr>
      <vt:lpstr>PowerPoint Presentation</vt:lpstr>
      <vt:lpstr>PowerPoint Presentation</vt:lpstr>
      <vt:lpstr>PowerPoint Presentation</vt:lpstr>
      <vt:lpstr>Order details deep drive:</vt:lpstr>
      <vt:lpstr>PowerPoint Presentation</vt:lpstr>
      <vt:lpstr>PowerPoint Presentation</vt:lpstr>
      <vt:lpstr>PowerPoint Presentation</vt:lpstr>
      <vt:lpstr>FINAL BUSINESS INSIGHTS :</vt:lpstr>
      <vt:lpstr>Business Recommendations :</vt:lpstr>
      <vt:lpstr>CONCLUSION :</vt:lpstr>
      <vt:lpstr>Experiences &amp; Challenges: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Borra katchayni</cp:lastModifiedBy>
  <cp:revision>35</cp:revision>
  <dcterms:created xsi:type="dcterms:W3CDTF">2021-02-16T05:19:01Z</dcterms:created>
  <dcterms:modified xsi:type="dcterms:W3CDTF">2026-04-05T05:01:47Z</dcterms:modified>
</cp:coreProperties>
</file>